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EC341-5528-18B0-CE9B-55907E347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-999066"/>
            <a:ext cx="8361229" cy="3900788"/>
          </a:xfrm>
        </p:spPr>
        <p:txBody>
          <a:bodyPr/>
          <a:lstStyle/>
          <a:p>
            <a:r>
              <a:rPr lang="en-US" sz="4000" dirty="0"/>
              <a:t>Diabetes Detection from Patient Data using Decision Tree</a:t>
            </a: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D1E147-8F17-654B-C72F-27804F9C00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73200" y="3231952"/>
            <a:ext cx="9093200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Names:</a:t>
            </a:r>
            <a:r>
              <a:rPr lang="en-IN" sz="2400" dirty="0"/>
              <a:t>Challa Thanusree, Banda Akshitha, </a:t>
            </a:r>
            <a:r>
              <a:rPr lang="en-IN" sz="2400" dirty="0" err="1"/>
              <a:t>Nerusu</a:t>
            </a:r>
            <a:r>
              <a:rPr lang="en-IN" sz="2400" dirty="0"/>
              <a:t>  Sahithi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Registration No:2403A54109,2403A54126,2403A54086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 &amp; Department (e.g., B. Tech CSE - Data Science)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College Name: SR University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857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12412-2641-9C12-ECA2-2E2CDB695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800C3-F07B-8F65-E02A-193964D3F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59467"/>
            <a:ext cx="9601200" cy="4207933"/>
          </a:xfrm>
        </p:spPr>
        <p:txBody>
          <a:bodyPr>
            <a:normAutofit/>
          </a:bodyPr>
          <a:lstStyle/>
          <a:p>
            <a:r>
              <a:rPr lang="en-US" sz="2800" b="1" dirty="0"/>
              <a:t>Content:</a:t>
            </a:r>
            <a:endParaRPr lang="en-US" sz="2800" dirty="0"/>
          </a:p>
          <a:p>
            <a:r>
              <a:rPr lang="en-US" sz="2800" dirty="0"/>
              <a:t>Diabetes is a chronic disease where blood sugar levels become too high.</a:t>
            </a:r>
          </a:p>
          <a:p>
            <a:r>
              <a:rPr lang="en-US" sz="2800" dirty="0"/>
              <a:t>Early detection helps in better treatment and lifestyle management.</a:t>
            </a:r>
          </a:p>
          <a:p>
            <a:r>
              <a:rPr lang="en-US" sz="2800" dirty="0"/>
              <a:t>Machine learning can predict diabetes risk from patient data.</a:t>
            </a:r>
          </a:p>
          <a:p>
            <a:r>
              <a:rPr lang="en-US" sz="2800" dirty="0"/>
              <a:t>This project uses a </a:t>
            </a:r>
            <a:r>
              <a:rPr lang="en-US" sz="2800" b="1" dirty="0"/>
              <a:t>Decision Tree algorithm</a:t>
            </a:r>
            <a:r>
              <a:rPr lang="en-US" sz="2800" dirty="0"/>
              <a:t> for prediction.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03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EA3C-B611-2BED-AEC0-5BE1ECC3B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EC459-C741-C917-4525-FB7BB00D7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27200"/>
            <a:ext cx="9601200" cy="4140200"/>
          </a:xfrm>
        </p:spPr>
        <p:txBody>
          <a:bodyPr>
            <a:normAutofit/>
          </a:bodyPr>
          <a:lstStyle/>
          <a:p>
            <a:r>
              <a:rPr lang="en-US" sz="2800" b="1" dirty="0"/>
              <a:t>Content:</a:t>
            </a:r>
            <a:endParaRPr lang="en-US" sz="2800" dirty="0"/>
          </a:p>
          <a:p>
            <a:r>
              <a:rPr lang="en-US" sz="2800" dirty="0"/>
              <a:t>To build a model that predicts whether a person has diabetes or not.</a:t>
            </a:r>
          </a:p>
          <a:p>
            <a:r>
              <a:rPr lang="en-US" sz="2800" dirty="0"/>
              <a:t>To analyze medical data such as glucose level, BMI, insulin, etc.</a:t>
            </a:r>
          </a:p>
          <a:p>
            <a:r>
              <a:rPr lang="en-US" sz="2800" dirty="0"/>
              <a:t>To apply the </a:t>
            </a:r>
            <a:r>
              <a:rPr lang="en-US" sz="2800" b="1" dirty="0"/>
              <a:t>Decision Tree classifier</a:t>
            </a:r>
            <a:r>
              <a:rPr lang="en-US" sz="2800" dirty="0"/>
              <a:t> for accurate results.</a:t>
            </a:r>
          </a:p>
          <a:p>
            <a:r>
              <a:rPr lang="en-US" sz="2800" dirty="0"/>
              <a:t>To assist healthcare professionals with data-driven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1544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007A-84A4-CF31-C82B-7B36F25E1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9EBE9-7F0C-0B6E-B18D-30285BBA0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88533"/>
            <a:ext cx="9601200" cy="5300134"/>
          </a:xfrm>
        </p:spPr>
        <p:txBody>
          <a:bodyPr>
            <a:normAutofit/>
          </a:bodyPr>
          <a:lstStyle/>
          <a:p>
            <a:r>
              <a:rPr lang="en-IN" b="1" dirty="0"/>
              <a:t>Content:</a:t>
            </a:r>
            <a:endParaRPr lang="en-IN" dirty="0"/>
          </a:p>
          <a:p>
            <a:r>
              <a:rPr lang="en-IN" b="1" dirty="0"/>
              <a:t>Dataset Used:</a:t>
            </a:r>
            <a:r>
              <a:rPr lang="en-IN" dirty="0"/>
              <a:t> PIMA Indians Diabetes Dataset (from Kaggle / UCI Repository).</a:t>
            </a:r>
          </a:p>
          <a:p>
            <a:r>
              <a:rPr lang="en-IN" b="1" dirty="0"/>
              <a:t>Total Records:</a:t>
            </a:r>
            <a:r>
              <a:rPr lang="en-IN" dirty="0"/>
              <a:t> 768</a:t>
            </a:r>
          </a:p>
          <a:p>
            <a:r>
              <a:rPr lang="en-IN" b="1" dirty="0"/>
              <a:t>Features:</a:t>
            </a:r>
            <a:endParaRPr lang="en-IN" dirty="0"/>
          </a:p>
          <a:p>
            <a:pPr lvl="1"/>
            <a:r>
              <a:rPr lang="en-IN" dirty="0"/>
              <a:t>Pregnancies</a:t>
            </a:r>
          </a:p>
          <a:p>
            <a:pPr lvl="1"/>
            <a:r>
              <a:rPr lang="en-IN" dirty="0"/>
              <a:t>Glucose</a:t>
            </a:r>
          </a:p>
          <a:p>
            <a:pPr lvl="1"/>
            <a:r>
              <a:rPr lang="en-IN" dirty="0"/>
              <a:t>Blood Pressure</a:t>
            </a:r>
          </a:p>
          <a:p>
            <a:pPr lvl="1"/>
            <a:r>
              <a:rPr lang="en-IN" dirty="0"/>
              <a:t>Skin Thickness</a:t>
            </a:r>
          </a:p>
          <a:p>
            <a:pPr lvl="1"/>
            <a:r>
              <a:rPr lang="en-IN" dirty="0"/>
              <a:t>Insulin</a:t>
            </a:r>
          </a:p>
          <a:p>
            <a:pPr lvl="1"/>
            <a:r>
              <a:rPr lang="en-IN" dirty="0"/>
              <a:t>BMI</a:t>
            </a:r>
          </a:p>
          <a:p>
            <a:pPr lvl="1"/>
            <a:r>
              <a:rPr lang="en-IN" dirty="0"/>
              <a:t>Diabetes Pedigree Function</a:t>
            </a:r>
          </a:p>
          <a:p>
            <a:pPr lvl="1"/>
            <a:r>
              <a:rPr lang="en-IN" dirty="0"/>
              <a:t>Age</a:t>
            </a:r>
          </a:p>
          <a:p>
            <a:pPr lvl="1"/>
            <a:r>
              <a:rPr lang="en-IN" dirty="0"/>
              <a:t>Outcome (1 = diabetic, 0 = non-diabetic)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7251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BAC70-ECF9-3ADC-C74A-FEAF0C2C1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F35CE-07B0-697D-EABB-4CEDE5C5A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73200"/>
            <a:ext cx="9601200" cy="4394200"/>
          </a:xfrm>
        </p:spPr>
        <p:txBody>
          <a:bodyPr/>
          <a:lstStyle/>
          <a:p>
            <a:r>
              <a:rPr lang="en-US" sz="3200" b="1" dirty="0"/>
              <a:t>Content:</a:t>
            </a:r>
            <a:endParaRPr lang="en-US" sz="3200" dirty="0"/>
          </a:p>
          <a:p>
            <a:r>
              <a:rPr lang="en-US" sz="3200" dirty="0"/>
              <a:t>Handled missing values (e.g., zeros replaced by median).</a:t>
            </a:r>
          </a:p>
          <a:p>
            <a:r>
              <a:rPr lang="en-US" sz="3200" dirty="0"/>
              <a:t>Normalized/standardized the data.</a:t>
            </a:r>
          </a:p>
          <a:p>
            <a:r>
              <a:rPr lang="en-US" sz="3200" dirty="0"/>
              <a:t>Split data into </a:t>
            </a:r>
            <a:r>
              <a:rPr lang="en-US" sz="3200" b="1" dirty="0"/>
              <a:t>training (80%)</a:t>
            </a:r>
            <a:r>
              <a:rPr lang="en-US" sz="3200" dirty="0"/>
              <a:t> and </a:t>
            </a:r>
            <a:r>
              <a:rPr lang="en-US" sz="3200" b="1" dirty="0"/>
              <a:t>testing (20%)</a:t>
            </a:r>
            <a:r>
              <a:rPr lang="en-US" sz="3200" dirty="0"/>
              <a:t> sets.</a:t>
            </a:r>
          </a:p>
          <a:p>
            <a:r>
              <a:rPr lang="en-US" sz="3200" dirty="0"/>
              <a:t>Used libraries: </a:t>
            </a:r>
            <a:r>
              <a:rPr lang="en-US" sz="3200" i="1" dirty="0"/>
              <a:t>Pandas, NumPy, Scikit-learn</a:t>
            </a:r>
            <a:r>
              <a:rPr lang="en-US" sz="32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0316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76AF5-93FB-7598-CFB4-7382D472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Used –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F4CF0-F53C-B876-6D15-24EC6E94E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2400"/>
            <a:ext cx="9601200" cy="4445000"/>
          </a:xfrm>
        </p:spPr>
        <p:txBody>
          <a:bodyPr>
            <a:noAutofit/>
          </a:bodyPr>
          <a:lstStyle/>
          <a:p>
            <a:r>
              <a:rPr lang="en-US" sz="2800" b="1" dirty="0"/>
              <a:t>Content:</a:t>
            </a:r>
            <a:endParaRPr lang="en-US" sz="2800" dirty="0"/>
          </a:p>
          <a:p>
            <a:r>
              <a:rPr lang="en-US" sz="2800" dirty="0"/>
              <a:t>A </a:t>
            </a:r>
            <a:r>
              <a:rPr lang="en-US" sz="2800" b="1" dirty="0"/>
              <a:t>Decision Tree</a:t>
            </a:r>
            <a:r>
              <a:rPr lang="en-US" sz="2800" dirty="0"/>
              <a:t> is a supervised learning algorithm used for classification and regression.</a:t>
            </a:r>
          </a:p>
          <a:p>
            <a:r>
              <a:rPr lang="en-US" sz="2800" dirty="0"/>
              <a:t>Works by splitting data into subsets based on attribute values.</a:t>
            </a:r>
          </a:p>
          <a:p>
            <a:r>
              <a:rPr lang="en-US" sz="2800" dirty="0"/>
              <a:t>Advantages:</a:t>
            </a:r>
          </a:p>
          <a:p>
            <a:pPr lvl="1"/>
            <a:r>
              <a:rPr lang="en-US" sz="2800" dirty="0"/>
              <a:t>Easy to interpret.</a:t>
            </a:r>
          </a:p>
          <a:p>
            <a:pPr lvl="1"/>
            <a:r>
              <a:rPr lang="en-US" sz="2800" dirty="0"/>
              <a:t>Handles numerical and categorical data.</a:t>
            </a:r>
          </a:p>
          <a:p>
            <a:pPr lvl="1"/>
            <a:r>
              <a:rPr lang="en-US" sz="2800" dirty="0"/>
              <a:t>Requires little data preprocessing.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66308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EBE7B-8FDC-3CFE-EA45-2F7475E5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Training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C820C-BED0-DBB3-4DE8-7E1A29EC9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59467"/>
            <a:ext cx="9601200" cy="4207933"/>
          </a:xfrm>
        </p:spPr>
        <p:txBody>
          <a:bodyPr/>
          <a:lstStyle/>
          <a:p>
            <a:r>
              <a:rPr lang="en-US" sz="2800" b="1" dirty="0"/>
              <a:t>Content:</a:t>
            </a:r>
            <a:endParaRPr lang="en-US" sz="2800" dirty="0"/>
          </a:p>
          <a:p>
            <a:r>
              <a:rPr lang="en-US" sz="2800" dirty="0"/>
              <a:t>Used </a:t>
            </a:r>
            <a:r>
              <a:rPr lang="en-US" sz="2800" dirty="0" err="1"/>
              <a:t>DecisionTreeClassifier</a:t>
            </a:r>
            <a:r>
              <a:rPr lang="en-US" sz="2800" dirty="0"/>
              <a:t> from </a:t>
            </a:r>
            <a:r>
              <a:rPr lang="en-US" sz="2800" dirty="0" err="1"/>
              <a:t>sklearn.tree</a:t>
            </a:r>
            <a:r>
              <a:rPr lang="en-US" sz="2800" dirty="0"/>
              <a:t>.</a:t>
            </a:r>
          </a:p>
          <a:p>
            <a:r>
              <a:rPr lang="en-US" sz="2800" dirty="0"/>
              <a:t>Performed training on the dataset.</a:t>
            </a:r>
          </a:p>
          <a:p>
            <a:r>
              <a:rPr lang="en-US" sz="2800" dirty="0"/>
              <a:t>Evaluated model using:</a:t>
            </a:r>
          </a:p>
          <a:p>
            <a:pPr lvl="1"/>
            <a:r>
              <a:rPr lang="en-US" sz="2800" dirty="0"/>
              <a:t>Accuracy</a:t>
            </a:r>
          </a:p>
          <a:p>
            <a:pPr lvl="1"/>
            <a:r>
              <a:rPr lang="en-US" sz="2800" dirty="0"/>
              <a:t>Precision</a:t>
            </a:r>
          </a:p>
          <a:p>
            <a:pPr lvl="1"/>
            <a:r>
              <a:rPr lang="en-US" sz="2800" dirty="0"/>
              <a:t>Recall</a:t>
            </a:r>
          </a:p>
          <a:p>
            <a:pPr lvl="1"/>
            <a:r>
              <a:rPr lang="en-US" sz="2800" dirty="0"/>
              <a:t>Confusion Matrix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1039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42A80-826D-E9DF-FC05-188DBA47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FFE77-605A-6DC5-21FC-EEC5C4DAE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96533"/>
            <a:ext cx="9601200" cy="3970867"/>
          </a:xfrm>
        </p:spPr>
        <p:txBody>
          <a:bodyPr/>
          <a:lstStyle/>
          <a:p>
            <a:r>
              <a:rPr lang="en-US" sz="3200" b="1" dirty="0"/>
              <a:t>Content:</a:t>
            </a:r>
            <a:endParaRPr lang="en-US" sz="3200" dirty="0"/>
          </a:p>
          <a:p>
            <a:r>
              <a:rPr lang="en-US" sz="3200" b="1" dirty="0"/>
              <a:t>Accuracy:</a:t>
            </a:r>
            <a:r>
              <a:rPr lang="en-US" sz="3200" dirty="0"/>
              <a:t> ~78–82% (depends on dataset split).</a:t>
            </a:r>
          </a:p>
          <a:p>
            <a:r>
              <a:rPr lang="en-US" sz="3200" b="1" dirty="0"/>
              <a:t>Confusion Matrix:</a:t>
            </a:r>
            <a:r>
              <a:rPr lang="en-US" sz="3200" dirty="0"/>
              <a:t> Display true vs predicted outcomes.</a:t>
            </a:r>
          </a:p>
          <a:p>
            <a:r>
              <a:rPr lang="en-US" sz="3200" b="1" dirty="0"/>
              <a:t>Observation:</a:t>
            </a:r>
            <a:r>
              <a:rPr lang="en-US" sz="3200" dirty="0"/>
              <a:t> Model performs well with balanced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7347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35A35-A535-7017-3181-A613BBDD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A2ACD-6366-2F37-6461-6158AAEEB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76400"/>
            <a:ext cx="9601200" cy="4191000"/>
          </a:xfrm>
        </p:spPr>
        <p:txBody>
          <a:bodyPr/>
          <a:lstStyle/>
          <a:p>
            <a:r>
              <a:rPr lang="en-US" sz="2800" b="1" dirty="0"/>
              <a:t>Content:</a:t>
            </a:r>
            <a:endParaRPr lang="en-US" sz="2800" dirty="0"/>
          </a:p>
          <a:p>
            <a:r>
              <a:rPr lang="en-US" sz="2800" dirty="0"/>
              <a:t>Plotted decision tree using </a:t>
            </a:r>
            <a:r>
              <a:rPr lang="en-US" sz="2800" dirty="0" err="1"/>
              <a:t>plot_tree</a:t>
            </a:r>
            <a:r>
              <a:rPr lang="en-US" sz="2800" dirty="0"/>
              <a:t>() or </a:t>
            </a:r>
            <a:r>
              <a:rPr lang="en-US" sz="2800" dirty="0" err="1"/>
              <a:t>graphviz</a:t>
            </a:r>
            <a:r>
              <a:rPr lang="en-US" sz="2800" dirty="0"/>
              <a:t>.</a:t>
            </a:r>
          </a:p>
          <a:p>
            <a:r>
              <a:rPr lang="en-US" sz="2800" dirty="0"/>
              <a:t>Shown feature importance — glucose and BMI are most influential.</a:t>
            </a:r>
          </a:p>
          <a:p>
            <a:r>
              <a:rPr lang="en-US" sz="2800" dirty="0"/>
              <a:t>Graphs:</a:t>
            </a:r>
          </a:p>
          <a:p>
            <a:pPr lvl="1"/>
            <a:r>
              <a:rPr lang="en-US" sz="2800" dirty="0"/>
              <a:t>Feature Importance Bar Chart</a:t>
            </a:r>
          </a:p>
          <a:p>
            <a:pPr lvl="1"/>
            <a:r>
              <a:rPr lang="en-US" sz="2800" dirty="0"/>
              <a:t>Decision Tree Structure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6689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EFD4A-C599-48E0-E0BF-990B035DE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D6B15-913F-0784-9FD8-E6FEDA583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42533"/>
            <a:ext cx="9601200" cy="4224867"/>
          </a:xfrm>
        </p:spPr>
        <p:txBody>
          <a:bodyPr>
            <a:normAutofit/>
          </a:bodyPr>
          <a:lstStyle/>
          <a:p>
            <a:r>
              <a:rPr lang="en-US" sz="3200" b="1" dirty="0"/>
              <a:t>Content:</a:t>
            </a:r>
            <a:endParaRPr lang="en-US" sz="3200" dirty="0"/>
          </a:p>
          <a:p>
            <a:r>
              <a:rPr lang="en-US" sz="3200" dirty="0"/>
              <a:t>Decision Tree successfully predicts diabetes with good accuracy.</a:t>
            </a:r>
          </a:p>
          <a:p>
            <a:r>
              <a:rPr lang="en-US" sz="3200" dirty="0"/>
              <a:t>Model helps in early detection and preventive healthcare.</a:t>
            </a:r>
          </a:p>
          <a:p>
            <a:r>
              <a:rPr lang="en-US" sz="3200" dirty="0"/>
              <a:t>Can be improved using </a:t>
            </a:r>
            <a:r>
              <a:rPr lang="en-US" sz="3200" b="1" dirty="0"/>
              <a:t>Ensemble Models</a:t>
            </a:r>
            <a:r>
              <a:rPr lang="en-US" sz="3200" dirty="0"/>
              <a:t> (Random Forest, </a:t>
            </a:r>
            <a:r>
              <a:rPr lang="en-US" sz="3200" dirty="0" err="1"/>
              <a:t>XGBoost</a:t>
            </a:r>
            <a:r>
              <a:rPr lang="en-US" sz="3200" dirty="0"/>
              <a:t>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4474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F8E0-3187-45FC-8489-F90BBBF9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4CD72-57B5-4F08-37C3-3BEEBA3E3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93333"/>
            <a:ext cx="9601200" cy="4174067"/>
          </a:xfrm>
        </p:spPr>
        <p:txBody>
          <a:bodyPr/>
          <a:lstStyle/>
          <a:p>
            <a:r>
              <a:rPr lang="en-US" sz="3200" b="1" dirty="0"/>
              <a:t>Content:</a:t>
            </a:r>
            <a:endParaRPr lang="en-US" sz="3200" dirty="0"/>
          </a:p>
          <a:p>
            <a:r>
              <a:rPr lang="en-US" sz="3200" dirty="0"/>
              <a:t>Deploy model using web interface (</a:t>
            </a:r>
            <a:r>
              <a:rPr lang="en-US" sz="3200" dirty="0" err="1"/>
              <a:t>Streamlit</a:t>
            </a:r>
            <a:r>
              <a:rPr lang="en-US" sz="3200" dirty="0"/>
              <a:t> / Flask).</a:t>
            </a:r>
          </a:p>
          <a:p>
            <a:r>
              <a:rPr lang="en-US" sz="3200" dirty="0"/>
              <a:t>Integrate with live health monitoring systems.</a:t>
            </a:r>
          </a:p>
          <a:p>
            <a:r>
              <a:rPr lang="en-US" sz="3200" dirty="0"/>
              <a:t>Use deep learning for improved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9328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DA30F-0ABD-AC2E-BE55-7B09F93B1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3B85B4-5B87-A097-53B6-3C58ABA864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600" y="1676044"/>
            <a:ext cx="9049785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Libraries: Scikit-learn, Pandas, Matplotlib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papers or ML textbooks (if used)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58976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{A9B5AE49-3117-4F51-B24D-AAF70EBC2573}tf10001105</Template>
  <TotalTime>13</TotalTime>
  <Words>457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Franklin Gothic Book</vt:lpstr>
      <vt:lpstr>Crop</vt:lpstr>
      <vt:lpstr>Diabetes Detection from Patient Data using Decision Tree</vt:lpstr>
      <vt:lpstr>Introduction</vt:lpstr>
      <vt:lpstr>Objective of the Project</vt:lpstr>
      <vt:lpstr>Dataset Description</vt:lpstr>
      <vt:lpstr>Data Preprocessing</vt:lpstr>
      <vt:lpstr>Algorithm Used – Decision Tree</vt:lpstr>
      <vt:lpstr>Model Training and Testing</vt:lpstr>
      <vt:lpstr>Results and Accuracy</vt:lpstr>
      <vt:lpstr>Visualization</vt:lpstr>
      <vt:lpstr>Conclusion</vt:lpstr>
      <vt:lpstr>Future Scope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Thanusree Challa</dc:creator>
  <cp:lastModifiedBy>Thanusree Challa</cp:lastModifiedBy>
  <cp:revision>1</cp:revision>
  <dcterms:created xsi:type="dcterms:W3CDTF">2025-11-12T10:15:41Z</dcterms:created>
  <dcterms:modified xsi:type="dcterms:W3CDTF">2025-11-12T10:29:38Z</dcterms:modified>
</cp:coreProperties>
</file>